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oah Bold" charset="1" panose="00000800000000000000"/>
      <p:regular r:id="rId19"/>
    </p:embeddedFont>
    <p:embeddedFont>
      <p:font typeface="Montserrat Semi-Bold" charset="1" panose="00000700000000000000"/>
      <p:regular r:id="rId20"/>
    </p:embeddedFont>
    <p:embeddedFont>
      <p:font typeface="Montserrat Medium" charset="1" panose="00000600000000000000"/>
      <p:regular r:id="rId21"/>
    </p:embeddedFont>
    <p:embeddedFont>
      <p:font typeface="Montserrat Bold" charset="1" panose="00000800000000000000"/>
      <p:regular r:id="rId22"/>
    </p:embeddedFont>
    <p:embeddedFont>
      <p:font typeface="Montserrat" charset="1" panose="00000500000000000000"/>
      <p:regular r:id="rId23"/>
    </p:embeddedFont>
    <p:embeddedFont>
      <p:font typeface="Montserrat Light" charset="1" panose="000004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https://colab.research.google.com/drive/1tYbBxKAiuK5_r0XEsuIrhGTGbnx_PedC?usp=sharing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5D897">
                <a:alpha val="100000"/>
              </a:srgbClr>
            </a:gs>
            <a:gs pos="100000">
              <a:srgbClr val="73A0F5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486779" y="592374"/>
            <a:ext cx="9979896" cy="11292669"/>
          </a:xfrm>
          <a:custGeom>
            <a:avLst/>
            <a:gdLst/>
            <a:ahLst/>
            <a:cxnLst/>
            <a:rect r="r" b="b" t="t" l="l"/>
            <a:pathLst>
              <a:path h="11292669" w="9979896">
                <a:moveTo>
                  <a:pt x="0" y="0"/>
                </a:moveTo>
                <a:lnTo>
                  <a:pt x="9979896" y="0"/>
                </a:lnTo>
                <a:lnTo>
                  <a:pt x="9979896" y="11292669"/>
                </a:lnTo>
                <a:lnTo>
                  <a:pt x="0" y="11292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228299">
            <a:off x="-10575196" y="5221362"/>
            <a:ext cx="24466290" cy="8073876"/>
          </a:xfrm>
          <a:custGeom>
            <a:avLst/>
            <a:gdLst/>
            <a:ahLst/>
            <a:cxnLst/>
            <a:rect r="r" b="b" t="t" l="l"/>
            <a:pathLst>
              <a:path h="8073876" w="24466290">
                <a:moveTo>
                  <a:pt x="0" y="0"/>
                </a:moveTo>
                <a:lnTo>
                  <a:pt x="24466290" y="0"/>
                </a:lnTo>
                <a:lnTo>
                  <a:pt x="24466290" y="8073876"/>
                </a:lnTo>
                <a:lnTo>
                  <a:pt x="0" y="80738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545440" y="3093296"/>
            <a:ext cx="17197119" cy="416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b="true" sz="6999" spc="20">
                <a:solidFill>
                  <a:srgbClr val="FFFFFF"/>
                </a:solidFill>
                <a:latin typeface="Noah Bold"/>
                <a:ea typeface="Noah Bold"/>
                <a:cs typeface="Noah Bold"/>
                <a:sym typeface="Noah Bold"/>
              </a:rPr>
              <a:t>ESTIMATION OF OBESITY LEVELS BASED ON EATING HABITS &amp; PHYSICAL CONDITION</a:t>
            </a:r>
          </a:p>
          <a:p>
            <a:pPr algn="ctr">
              <a:lnSpc>
                <a:spcPts val="960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453365" y="6191084"/>
            <a:ext cx="13381270" cy="528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6"/>
              </a:lnSpc>
            </a:pPr>
            <a:r>
              <a:rPr lang="en-US" sz="3204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Exploring Neural Network Architectures and Optimization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583254" y="2185305"/>
            <a:ext cx="11121492" cy="679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9"/>
              </a:lnSpc>
            </a:pPr>
            <a:r>
              <a:rPr lang="en-US" b="true" sz="4745" spc="498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 4770 - FA 2025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53365" y="6834201"/>
            <a:ext cx="13381270" cy="426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sz="2504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(Group 11) Aaron Cole, Martin Patterson, Johanna Devilme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16564">
            <a:off x="-4217767" y="1866193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804992" y="1231271"/>
            <a:ext cx="8777382" cy="2101538"/>
            <a:chOff x="0" y="0"/>
            <a:chExt cx="2531434" cy="6060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31434" cy="606093"/>
            </a:xfrm>
            <a:custGeom>
              <a:avLst/>
              <a:gdLst/>
              <a:ahLst/>
              <a:cxnLst/>
              <a:rect r="r" b="b" t="t" l="l"/>
              <a:pathLst>
                <a:path h="606093" w="2531434">
                  <a:moveTo>
                    <a:pt x="34399" y="0"/>
                  </a:moveTo>
                  <a:lnTo>
                    <a:pt x="2497035" y="0"/>
                  </a:lnTo>
                  <a:cubicBezTo>
                    <a:pt x="2516033" y="0"/>
                    <a:pt x="2531434" y="15401"/>
                    <a:pt x="2531434" y="34399"/>
                  </a:cubicBezTo>
                  <a:lnTo>
                    <a:pt x="2531434" y="571693"/>
                  </a:lnTo>
                  <a:cubicBezTo>
                    <a:pt x="2531434" y="590692"/>
                    <a:pt x="2516033" y="606093"/>
                    <a:pt x="2497035" y="606093"/>
                  </a:cubicBezTo>
                  <a:lnTo>
                    <a:pt x="34399" y="606093"/>
                  </a:lnTo>
                  <a:cubicBezTo>
                    <a:pt x="15401" y="606093"/>
                    <a:pt x="0" y="590692"/>
                    <a:pt x="0" y="571693"/>
                  </a:cubicBezTo>
                  <a:lnTo>
                    <a:pt x="0" y="34399"/>
                  </a:lnTo>
                  <a:cubicBezTo>
                    <a:pt x="0" y="15401"/>
                    <a:pt x="15401" y="0"/>
                    <a:pt x="343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EAB8">
                    <a:alpha val="100000"/>
                  </a:srgbClr>
                </a:gs>
                <a:gs pos="100000">
                  <a:srgbClr val="73A0F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531434" cy="634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804992" y="3698034"/>
            <a:ext cx="8777382" cy="2101538"/>
            <a:chOff x="0" y="0"/>
            <a:chExt cx="2531434" cy="60609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31434" cy="606093"/>
            </a:xfrm>
            <a:custGeom>
              <a:avLst/>
              <a:gdLst/>
              <a:ahLst/>
              <a:cxnLst/>
              <a:rect r="r" b="b" t="t" l="l"/>
              <a:pathLst>
                <a:path h="606093" w="2531434">
                  <a:moveTo>
                    <a:pt x="34399" y="0"/>
                  </a:moveTo>
                  <a:lnTo>
                    <a:pt x="2497035" y="0"/>
                  </a:lnTo>
                  <a:cubicBezTo>
                    <a:pt x="2516033" y="0"/>
                    <a:pt x="2531434" y="15401"/>
                    <a:pt x="2531434" y="34399"/>
                  </a:cubicBezTo>
                  <a:lnTo>
                    <a:pt x="2531434" y="571693"/>
                  </a:lnTo>
                  <a:cubicBezTo>
                    <a:pt x="2531434" y="590692"/>
                    <a:pt x="2516033" y="606093"/>
                    <a:pt x="2497035" y="606093"/>
                  </a:cubicBezTo>
                  <a:lnTo>
                    <a:pt x="34399" y="606093"/>
                  </a:lnTo>
                  <a:cubicBezTo>
                    <a:pt x="15401" y="606093"/>
                    <a:pt x="0" y="590692"/>
                    <a:pt x="0" y="571693"/>
                  </a:cubicBezTo>
                  <a:lnTo>
                    <a:pt x="0" y="34399"/>
                  </a:lnTo>
                  <a:cubicBezTo>
                    <a:pt x="0" y="15401"/>
                    <a:pt x="15401" y="0"/>
                    <a:pt x="34399" y="0"/>
                  </a:cubicBezTo>
                  <a:close/>
                </a:path>
              </a:pathLst>
            </a:custGeom>
            <a:solidFill>
              <a:srgbClr val="50517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531434" cy="634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04992" y="6164796"/>
            <a:ext cx="8777382" cy="2101538"/>
            <a:chOff x="0" y="0"/>
            <a:chExt cx="2531434" cy="606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31434" cy="606093"/>
            </a:xfrm>
            <a:custGeom>
              <a:avLst/>
              <a:gdLst/>
              <a:ahLst/>
              <a:cxnLst/>
              <a:rect r="r" b="b" t="t" l="l"/>
              <a:pathLst>
                <a:path h="606093" w="2531434">
                  <a:moveTo>
                    <a:pt x="34399" y="0"/>
                  </a:moveTo>
                  <a:lnTo>
                    <a:pt x="2497035" y="0"/>
                  </a:lnTo>
                  <a:cubicBezTo>
                    <a:pt x="2516033" y="0"/>
                    <a:pt x="2531434" y="15401"/>
                    <a:pt x="2531434" y="34399"/>
                  </a:cubicBezTo>
                  <a:lnTo>
                    <a:pt x="2531434" y="571693"/>
                  </a:lnTo>
                  <a:cubicBezTo>
                    <a:pt x="2531434" y="590692"/>
                    <a:pt x="2516033" y="606093"/>
                    <a:pt x="2497035" y="606093"/>
                  </a:cubicBezTo>
                  <a:lnTo>
                    <a:pt x="34399" y="606093"/>
                  </a:lnTo>
                  <a:cubicBezTo>
                    <a:pt x="15401" y="606093"/>
                    <a:pt x="0" y="590692"/>
                    <a:pt x="0" y="571693"/>
                  </a:cubicBezTo>
                  <a:lnTo>
                    <a:pt x="0" y="34399"/>
                  </a:lnTo>
                  <a:cubicBezTo>
                    <a:pt x="0" y="15401"/>
                    <a:pt x="15401" y="0"/>
                    <a:pt x="3439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EAB8">
                    <a:alpha val="100000"/>
                  </a:srgbClr>
                </a:gs>
                <a:gs pos="100000">
                  <a:srgbClr val="73A0F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531434" cy="634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13536" y="3969867"/>
            <a:ext cx="5167384" cy="134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83"/>
              </a:lnSpc>
              <a:spcBef>
                <a:spcPct val="0"/>
              </a:spcBef>
            </a:pPr>
            <a:r>
              <a:rPr lang="en-US" b="true" sz="9530">
                <a:solidFill>
                  <a:srgbClr val="75DAB9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Efforts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90450" y="2470537"/>
            <a:ext cx="3255404" cy="3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13" spc="11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Aaron Cole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70220" y="1464589"/>
            <a:ext cx="3095863" cy="105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b="true" sz="6129" spc="33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90450" y="4937300"/>
            <a:ext cx="3255404" cy="3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13" spc="11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Martin Patterson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70220" y="3931352"/>
            <a:ext cx="3095863" cy="105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b="true" sz="6129" spc="33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635104" y="1833448"/>
            <a:ext cx="4334282" cy="3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6"/>
              </a:lnSpc>
            </a:pPr>
            <a:r>
              <a:rPr lang="en-US" sz="2135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Visualization and Presentation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635104" y="4300211"/>
            <a:ext cx="4334282" cy="363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6"/>
              </a:lnSpc>
            </a:pPr>
            <a:r>
              <a:rPr lang="en-US" sz="2135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Test Creation and Presentation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90450" y="7404062"/>
            <a:ext cx="3255404" cy="3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13" spc="11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Johnna Devilme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70220" y="6398114"/>
            <a:ext cx="3095863" cy="105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2"/>
              </a:lnSpc>
            </a:pPr>
            <a:r>
              <a:rPr lang="en-US" b="true" sz="6129" spc="33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35104" y="6766973"/>
            <a:ext cx="4334282" cy="737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6"/>
              </a:lnSpc>
            </a:pPr>
            <a:r>
              <a:rPr lang="en-US" sz="2135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Code Organization and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4494" y="837044"/>
            <a:ext cx="7568338" cy="1728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1"/>
              </a:lnSpc>
              <a:spcBef>
                <a:spcPct val="0"/>
              </a:spcBef>
            </a:pPr>
            <a:r>
              <a:rPr lang="en-US" b="true" sz="4119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Goal:</a:t>
            </a:r>
            <a:r>
              <a:rPr lang="en-US" b="true" sz="4119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 Predict specific obesity levels based on lifestyle factors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608973">
            <a:off x="4387465" y="384216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314938" y="3861159"/>
            <a:ext cx="4628931" cy="2437899"/>
            <a:chOff x="0" y="0"/>
            <a:chExt cx="1335004" cy="7031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5003" cy="703101"/>
            </a:xfrm>
            <a:custGeom>
              <a:avLst/>
              <a:gdLst/>
              <a:ahLst/>
              <a:cxnLst/>
              <a:rect r="r" b="b" t="t" l="l"/>
              <a:pathLst>
                <a:path h="703101" w="1335003">
                  <a:moveTo>
                    <a:pt x="51848" y="0"/>
                  </a:moveTo>
                  <a:lnTo>
                    <a:pt x="1283156" y="0"/>
                  </a:lnTo>
                  <a:cubicBezTo>
                    <a:pt x="1311790" y="0"/>
                    <a:pt x="1335003" y="23213"/>
                    <a:pt x="1335003" y="51848"/>
                  </a:cubicBezTo>
                  <a:lnTo>
                    <a:pt x="1335003" y="651253"/>
                  </a:lnTo>
                  <a:cubicBezTo>
                    <a:pt x="1335003" y="679888"/>
                    <a:pt x="1311790" y="703101"/>
                    <a:pt x="1283156" y="703101"/>
                  </a:cubicBezTo>
                  <a:lnTo>
                    <a:pt x="51848" y="703101"/>
                  </a:lnTo>
                  <a:cubicBezTo>
                    <a:pt x="23213" y="703101"/>
                    <a:pt x="0" y="679888"/>
                    <a:pt x="0" y="651253"/>
                  </a:cubicBezTo>
                  <a:lnTo>
                    <a:pt x="0" y="51848"/>
                  </a:lnTo>
                  <a:cubicBezTo>
                    <a:pt x="0" y="23213"/>
                    <a:pt x="23213" y="0"/>
                    <a:pt x="518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335004" cy="7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4938" y="7022958"/>
            <a:ext cx="4628931" cy="2437899"/>
            <a:chOff x="0" y="0"/>
            <a:chExt cx="1335004" cy="7031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35003" cy="703101"/>
            </a:xfrm>
            <a:custGeom>
              <a:avLst/>
              <a:gdLst/>
              <a:ahLst/>
              <a:cxnLst/>
              <a:rect r="r" b="b" t="t" l="l"/>
              <a:pathLst>
                <a:path h="703101" w="1335003">
                  <a:moveTo>
                    <a:pt x="51848" y="0"/>
                  </a:moveTo>
                  <a:lnTo>
                    <a:pt x="1283156" y="0"/>
                  </a:lnTo>
                  <a:cubicBezTo>
                    <a:pt x="1311790" y="0"/>
                    <a:pt x="1335003" y="23213"/>
                    <a:pt x="1335003" y="51848"/>
                  </a:cubicBezTo>
                  <a:lnTo>
                    <a:pt x="1335003" y="651253"/>
                  </a:lnTo>
                  <a:cubicBezTo>
                    <a:pt x="1335003" y="679888"/>
                    <a:pt x="1311790" y="703101"/>
                    <a:pt x="1283156" y="703101"/>
                  </a:cubicBezTo>
                  <a:lnTo>
                    <a:pt x="51848" y="703101"/>
                  </a:lnTo>
                  <a:cubicBezTo>
                    <a:pt x="23213" y="703101"/>
                    <a:pt x="0" y="679888"/>
                    <a:pt x="0" y="651253"/>
                  </a:cubicBezTo>
                  <a:lnTo>
                    <a:pt x="0" y="51848"/>
                  </a:lnTo>
                  <a:cubicBezTo>
                    <a:pt x="0" y="23213"/>
                    <a:pt x="23213" y="0"/>
                    <a:pt x="5184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335004" cy="7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aphicFrame>
        <p:nvGraphicFramePr>
          <p:cNvPr name="Object 10" id="10"/>
          <p:cNvGraphicFramePr/>
          <p:nvPr/>
        </p:nvGraphicFramePr>
        <p:xfrm>
          <a:off x="7204227" y="1028700"/>
          <a:ext cx="5322437" cy="8229600"/>
        </p:xfrm>
        <a:graphic>
          <a:graphicData uri="http://schemas.openxmlformats.org/presentationml/2006/ole">
            <p:oleObj imgW="6972300" imgH="9867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795645" y="4250858"/>
            <a:ext cx="4271480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9"/>
              </a:lnSpc>
            </a:pPr>
            <a:r>
              <a:rPr lang="en-US" sz="2475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Dataset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645" y="4867234"/>
            <a:ext cx="3947819" cy="96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Scikit Learn MPL Classifier</a:t>
            </a:r>
          </a:p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UCI ML Repository</a:t>
            </a:r>
          </a:p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80/20 Split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645" y="7521989"/>
            <a:ext cx="3947819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9"/>
              </a:lnSpc>
              <a:spcBef>
                <a:spcPct val="0"/>
              </a:spcBef>
            </a:pPr>
            <a:r>
              <a:rPr lang="en-US" b="true" sz="2475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Features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5645" y="8236984"/>
            <a:ext cx="3294935" cy="96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Eating habits and Physical condition with target class.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16564">
            <a:off x="-4217767" y="1866193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859457" y="5510761"/>
            <a:ext cx="3095179" cy="453041"/>
            <a:chOff x="0" y="0"/>
            <a:chExt cx="4126905" cy="6040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6905" cy="604054"/>
            </a:xfrm>
            <a:custGeom>
              <a:avLst/>
              <a:gdLst/>
              <a:ahLst/>
              <a:cxnLst/>
              <a:rect r="r" b="b" t="t" l="l"/>
              <a:pathLst>
                <a:path h="604054" w="4126905">
                  <a:moveTo>
                    <a:pt x="0" y="0"/>
                  </a:moveTo>
                  <a:lnTo>
                    <a:pt x="4126905" y="0"/>
                  </a:lnTo>
                  <a:lnTo>
                    <a:pt x="4126905" y="604054"/>
                  </a:lnTo>
                  <a:lnTo>
                    <a:pt x="0" y="6040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126905" cy="6231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759017" y="2484708"/>
            <a:ext cx="12043763" cy="7196149"/>
          </a:xfrm>
          <a:custGeom>
            <a:avLst/>
            <a:gdLst/>
            <a:ahLst/>
            <a:cxnLst/>
            <a:rect r="r" b="b" t="t" l="l"/>
            <a:pathLst>
              <a:path h="7196149" w="12043763">
                <a:moveTo>
                  <a:pt x="0" y="0"/>
                </a:moveTo>
                <a:lnTo>
                  <a:pt x="12043764" y="0"/>
                </a:lnTo>
                <a:lnTo>
                  <a:pt x="12043764" y="7196149"/>
                </a:lnTo>
                <a:lnTo>
                  <a:pt x="0" y="71961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999444" y="1790032"/>
            <a:ext cx="6289111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big does our capacity need to be?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318" y="3158087"/>
            <a:ext cx="5534699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Tested layer sizes ranging from shallow (8,) to deep (128, 64, 32).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91968" y="5692153"/>
            <a:ext cx="5399400" cy="191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medium sized architecture with (64, 32) hidden layer structure provided the best balance between too simple and over fitting.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3936" y="4967589"/>
            <a:ext cx="48154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75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49215" y="419119"/>
            <a:ext cx="5589571" cy="10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6"/>
              </a:lnSpc>
            </a:pPr>
            <a:r>
              <a:rPr lang="en-US" sz="6429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Capacity Test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3936" y="2437083"/>
            <a:ext cx="48154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75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</a:t>
            </a:r>
          </a:p>
        </p:txBody>
      </p:sp>
    </p:spTree>
  </p:cSld>
  <p:clrMapOvr>
    <a:masterClrMapping/>
  </p:clrMapOvr>
  <p:transition spd="fast">
    <p:wipe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16564">
            <a:off x="-4217767" y="1866193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859457" y="5510761"/>
            <a:ext cx="3095179" cy="453041"/>
            <a:chOff x="0" y="0"/>
            <a:chExt cx="4126905" cy="6040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6905" cy="604054"/>
            </a:xfrm>
            <a:custGeom>
              <a:avLst/>
              <a:gdLst/>
              <a:ahLst/>
              <a:cxnLst/>
              <a:rect r="r" b="b" t="t" l="l"/>
              <a:pathLst>
                <a:path h="604054" w="4126905">
                  <a:moveTo>
                    <a:pt x="0" y="0"/>
                  </a:moveTo>
                  <a:lnTo>
                    <a:pt x="4126905" y="0"/>
                  </a:lnTo>
                  <a:lnTo>
                    <a:pt x="4126905" y="604054"/>
                  </a:lnTo>
                  <a:lnTo>
                    <a:pt x="0" y="6040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126905" cy="6231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71575" y="2485357"/>
            <a:ext cx="12043763" cy="6578906"/>
          </a:xfrm>
          <a:custGeom>
            <a:avLst/>
            <a:gdLst/>
            <a:ahLst/>
            <a:cxnLst/>
            <a:rect r="r" b="b" t="t" l="l"/>
            <a:pathLst>
              <a:path h="6578906" w="12043763">
                <a:moveTo>
                  <a:pt x="0" y="0"/>
                </a:moveTo>
                <a:lnTo>
                  <a:pt x="12043764" y="0"/>
                </a:lnTo>
                <a:lnTo>
                  <a:pt x="12043764" y="6578905"/>
                </a:lnTo>
                <a:lnTo>
                  <a:pt x="0" y="657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132987" y="1790032"/>
            <a:ext cx="10022025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 obesity a linear problem, or does it require complex curves?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318" y="3133072"/>
            <a:ext cx="5534699" cy="1152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Compar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ed Activation Functions: Identity (Linear), Logistic, Tanh, ReLU.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3936" y="5748918"/>
            <a:ext cx="4815464" cy="33909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3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Identity performed poorly, proving obesity is a non-linear problem.</a:t>
            </a:r>
          </a:p>
          <a:p>
            <a:pPr algn="ctr">
              <a:lnSpc>
                <a:spcPts val="2999"/>
              </a:lnSpc>
            </a:pPr>
          </a:p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ReLU converged the fastest and achieved high accuracy, avoiding the vanishing gradient problem seen in Logistic.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3936" y="5043405"/>
            <a:ext cx="48154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75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Findings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94543" y="419119"/>
            <a:ext cx="5698914" cy="10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6"/>
              </a:lnSpc>
            </a:pPr>
            <a:r>
              <a:rPr lang="en-US" sz="6429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Non-Linearity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3936" y="2437083"/>
            <a:ext cx="48154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75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</a:t>
            </a:r>
          </a:p>
        </p:txBody>
      </p:sp>
    </p:spTree>
  </p:cSld>
  <p:clrMapOvr>
    <a:masterClrMapping/>
  </p:clrMapOvr>
  <p:transition spd="fast">
    <p:wipe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16564">
            <a:off x="-4217767" y="1866193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859457" y="5510761"/>
            <a:ext cx="3095179" cy="453041"/>
            <a:chOff x="0" y="0"/>
            <a:chExt cx="4126905" cy="6040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6905" cy="604054"/>
            </a:xfrm>
            <a:custGeom>
              <a:avLst/>
              <a:gdLst/>
              <a:ahLst/>
              <a:cxnLst/>
              <a:rect r="r" b="b" t="t" l="l"/>
              <a:pathLst>
                <a:path h="604054" w="4126905">
                  <a:moveTo>
                    <a:pt x="0" y="0"/>
                  </a:moveTo>
                  <a:lnTo>
                    <a:pt x="4126905" y="0"/>
                  </a:lnTo>
                  <a:lnTo>
                    <a:pt x="4126905" y="604054"/>
                  </a:lnTo>
                  <a:lnTo>
                    <a:pt x="0" y="6040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126905" cy="6231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71575" y="2485357"/>
            <a:ext cx="12043763" cy="6578906"/>
          </a:xfrm>
          <a:custGeom>
            <a:avLst/>
            <a:gdLst/>
            <a:ahLst/>
            <a:cxnLst/>
            <a:rect r="r" b="b" t="t" l="l"/>
            <a:pathLst>
              <a:path h="6578906" w="12043763">
                <a:moveTo>
                  <a:pt x="0" y="0"/>
                </a:moveTo>
                <a:lnTo>
                  <a:pt x="12043764" y="0"/>
                </a:lnTo>
                <a:lnTo>
                  <a:pt x="12043764" y="6578905"/>
                </a:lnTo>
                <a:lnTo>
                  <a:pt x="0" y="657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58041" y="2459421"/>
            <a:ext cx="12057298" cy="6510941"/>
          </a:xfrm>
          <a:custGeom>
            <a:avLst/>
            <a:gdLst/>
            <a:ahLst/>
            <a:cxnLst/>
            <a:rect r="r" b="b" t="t" l="l"/>
            <a:pathLst>
              <a:path h="6510941" w="12057298">
                <a:moveTo>
                  <a:pt x="0" y="0"/>
                </a:moveTo>
                <a:lnTo>
                  <a:pt x="12057298" y="0"/>
                </a:lnTo>
                <a:lnTo>
                  <a:pt x="12057298" y="6510941"/>
                </a:lnTo>
                <a:lnTo>
                  <a:pt x="0" y="65109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32987" y="1790032"/>
            <a:ext cx="10022025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fast should the model learn?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4318" y="3133072"/>
            <a:ext cx="5534699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earning Rates (0.0001, 0.001, 0.01, 0.1).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3936" y="5739393"/>
            <a:ext cx="4815464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Blue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0.0001 Inefficient and slow learner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3936" y="5043405"/>
            <a:ext cx="48154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75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Findings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35556" y="419119"/>
            <a:ext cx="8416888" cy="10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6"/>
              </a:lnSpc>
            </a:pPr>
            <a:r>
              <a:rPr lang="en-US" sz="6429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Convergence Speed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3936" y="2437083"/>
            <a:ext cx="48154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75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3936" y="6529968"/>
            <a:ext cx="4815464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75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Orange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0.001 Better than blue but more of the same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3936" y="7320542"/>
            <a:ext cx="4815464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Green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0.01 Learns fast and completes fast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3936" y="8111117"/>
            <a:ext cx="4815464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0.1 Unstable</a:t>
            </a:r>
          </a:p>
        </p:txBody>
      </p:sp>
    </p:spTree>
  </p:cSld>
  <p:clrMapOvr>
    <a:masterClrMapping/>
  </p:clrMapOvr>
  <p:transition spd="fast">
    <p:wipe dir="d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16564">
            <a:off x="-4217767" y="1866193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859457" y="5510761"/>
            <a:ext cx="3095179" cy="453041"/>
            <a:chOff x="0" y="0"/>
            <a:chExt cx="4126905" cy="6040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26905" cy="604054"/>
            </a:xfrm>
            <a:custGeom>
              <a:avLst/>
              <a:gdLst/>
              <a:ahLst/>
              <a:cxnLst/>
              <a:rect r="r" b="b" t="t" l="l"/>
              <a:pathLst>
                <a:path h="604054" w="4126905">
                  <a:moveTo>
                    <a:pt x="0" y="0"/>
                  </a:moveTo>
                  <a:lnTo>
                    <a:pt x="4126905" y="0"/>
                  </a:lnTo>
                  <a:lnTo>
                    <a:pt x="4126905" y="604054"/>
                  </a:lnTo>
                  <a:lnTo>
                    <a:pt x="0" y="60405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126905" cy="6231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00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71575" y="2485357"/>
            <a:ext cx="12043763" cy="6578906"/>
          </a:xfrm>
          <a:custGeom>
            <a:avLst/>
            <a:gdLst/>
            <a:ahLst/>
            <a:cxnLst/>
            <a:rect r="r" b="b" t="t" l="l"/>
            <a:pathLst>
              <a:path h="6578906" w="12043763">
                <a:moveTo>
                  <a:pt x="0" y="0"/>
                </a:moveTo>
                <a:lnTo>
                  <a:pt x="12043764" y="0"/>
                </a:lnTo>
                <a:lnTo>
                  <a:pt x="12043764" y="6578905"/>
                </a:lnTo>
                <a:lnTo>
                  <a:pt x="0" y="65789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71575" y="2485357"/>
            <a:ext cx="10279540" cy="6578906"/>
          </a:xfrm>
          <a:custGeom>
            <a:avLst/>
            <a:gdLst/>
            <a:ahLst/>
            <a:cxnLst/>
            <a:rect r="r" b="b" t="t" l="l"/>
            <a:pathLst>
              <a:path h="6578906" w="10279540">
                <a:moveTo>
                  <a:pt x="0" y="0"/>
                </a:moveTo>
                <a:lnTo>
                  <a:pt x="10279540" y="0"/>
                </a:lnTo>
                <a:lnTo>
                  <a:pt x="10279540" y="6578905"/>
                </a:lnTo>
                <a:lnTo>
                  <a:pt x="0" y="65789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32987" y="1790032"/>
            <a:ext cx="10022025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fast should the model learn?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4318" y="3133072"/>
            <a:ext cx="5534699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earning Rates (0.0001, 0.001, 0.01, 0.1).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3936" y="5739393"/>
            <a:ext cx="4815464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004A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Blue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0.0001 Inefficient and slow learner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3936" y="5043405"/>
            <a:ext cx="48154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75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Findings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35556" y="419119"/>
            <a:ext cx="8416888" cy="10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66"/>
              </a:lnSpc>
            </a:pPr>
            <a:r>
              <a:rPr lang="en-US" sz="6429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Convergence Speed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83936" y="2437083"/>
            <a:ext cx="48154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9"/>
              </a:lnSpc>
            </a:pPr>
            <a:r>
              <a:rPr lang="en-US" sz="2475" b="true">
                <a:solidFill>
                  <a:srgbClr val="81FFD6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Experiment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3936" y="6529968"/>
            <a:ext cx="4815464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751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Orange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0.001 Better than blue but more of the same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3936" y="7320542"/>
            <a:ext cx="4815464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00BF6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Green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0.01 Learns fast and completes fast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3936" y="8111117"/>
            <a:ext cx="4815464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313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Red</a:t>
            </a: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0.1 Unstable</a:t>
            </a:r>
          </a:p>
        </p:txBody>
      </p:sp>
    </p:spTree>
  </p:cSld>
  <p:clrMapOvr>
    <a:masterClrMapping/>
  </p:clrMapOvr>
  <p:transition spd="fast">
    <p:wipe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4938" y="1342047"/>
            <a:ext cx="9837044" cy="90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5"/>
              </a:lnSpc>
              <a:spcBef>
                <a:spcPct val="0"/>
              </a:spcBef>
            </a:pPr>
            <a:r>
              <a:rPr lang="en-US" b="true" sz="6386">
                <a:solidFill>
                  <a:srgbClr val="75DAB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Generalization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608973">
            <a:off x="4387465" y="384216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314938" y="7022958"/>
            <a:ext cx="5606710" cy="2437899"/>
            <a:chOff x="0" y="0"/>
            <a:chExt cx="1616999" cy="7031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6999" cy="703101"/>
            </a:xfrm>
            <a:custGeom>
              <a:avLst/>
              <a:gdLst/>
              <a:ahLst/>
              <a:cxnLst/>
              <a:rect r="r" b="b" t="t" l="l"/>
              <a:pathLst>
                <a:path h="703101" w="1616999">
                  <a:moveTo>
                    <a:pt x="42806" y="0"/>
                  </a:moveTo>
                  <a:lnTo>
                    <a:pt x="1574193" y="0"/>
                  </a:lnTo>
                  <a:cubicBezTo>
                    <a:pt x="1585546" y="0"/>
                    <a:pt x="1596434" y="4510"/>
                    <a:pt x="1604462" y="12538"/>
                  </a:cubicBezTo>
                  <a:cubicBezTo>
                    <a:pt x="1612489" y="20565"/>
                    <a:pt x="1616999" y="31453"/>
                    <a:pt x="1616999" y="42806"/>
                  </a:cubicBezTo>
                  <a:lnTo>
                    <a:pt x="1616999" y="660295"/>
                  </a:lnTo>
                  <a:cubicBezTo>
                    <a:pt x="1616999" y="671648"/>
                    <a:pt x="1612489" y="682535"/>
                    <a:pt x="1604462" y="690563"/>
                  </a:cubicBezTo>
                  <a:cubicBezTo>
                    <a:pt x="1596434" y="698591"/>
                    <a:pt x="1585546" y="703101"/>
                    <a:pt x="1574193" y="703101"/>
                  </a:cubicBezTo>
                  <a:lnTo>
                    <a:pt x="42806" y="703101"/>
                  </a:lnTo>
                  <a:cubicBezTo>
                    <a:pt x="19165" y="703101"/>
                    <a:pt x="0" y="683936"/>
                    <a:pt x="0" y="660295"/>
                  </a:cubicBezTo>
                  <a:lnTo>
                    <a:pt x="0" y="42806"/>
                  </a:lnTo>
                  <a:cubicBezTo>
                    <a:pt x="0" y="31453"/>
                    <a:pt x="4510" y="20565"/>
                    <a:pt x="12538" y="12538"/>
                  </a:cubicBezTo>
                  <a:cubicBezTo>
                    <a:pt x="20565" y="4510"/>
                    <a:pt x="31453" y="0"/>
                    <a:pt x="428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16999" cy="7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63422" y="3689709"/>
            <a:ext cx="5606710" cy="2437899"/>
            <a:chOff x="0" y="0"/>
            <a:chExt cx="1616999" cy="7031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6999" cy="703101"/>
            </a:xfrm>
            <a:custGeom>
              <a:avLst/>
              <a:gdLst/>
              <a:ahLst/>
              <a:cxnLst/>
              <a:rect r="r" b="b" t="t" l="l"/>
              <a:pathLst>
                <a:path h="703101" w="1616999">
                  <a:moveTo>
                    <a:pt x="42806" y="0"/>
                  </a:moveTo>
                  <a:lnTo>
                    <a:pt x="1574193" y="0"/>
                  </a:lnTo>
                  <a:cubicBezTo>
                    <a:pt x="1585546" y="0"/>
                    <a:pt x="1596434" y="4510"/>
                    <a:pt x="1604462" y="12538"/>
                  </a:cubicBezTo>
                  <a:cubicBezTo>
                    <a:pt x="1612489" y="20565"/>
                    <a:pt x="1616999" y="31453"/>
                    <a:pt x="1616999" y="42806"/>
                  </a:cubicBezTo>
                  <a:lnTo>
                    <a:pt x="1616999" y="660295"/>
                  </a:lnTo>
                  <a:cubicBezTo>
                    <a:pt x="1616999" y="671648"/>
                    <a:pt x="1612489" y="682535"/>
                    <a:pt x="1604462" y="690563"/>
                  </a:cubicBezTo>
                  <a:cubicBezTo>
                    <a:pt x="1596434" y="698591"/>
                    <a:pt x="1585546" y="703101"/>
                    <a:pt x="1574193" y="703101"/>
                  </a:cubicBezTo>
                  <a:lnTo>
                    <a:pt x="42806" y="703101"/>
                  </a:lnTo>
                  <a:cubicBezTo>
                    <a:pt x="19165" y="703101"/>
                    <a:pt x="0" y="683936"/>
                    <a:pt x="0" y="660295"/>
                  </a:cubicBezTo>
                  <a:lnTo>
                    <a:pt x="0" y="42806"/>
                  </a:lnTo>
                  <a:cubicBezTo>
                    <a:pt x="0" y="31453"/>
                    <a:pt x="4510" y="20565"/>
                    <a:pt x="12538" y="12538"/>
                  </a:cubicBezTo>
                  <a:cubicBezTo>
                    <a:pt x="20565" y="4510"/>
                    <a:pt x="31453" y="0"/>
                    <a:pt x="428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16999" cy="7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5521" y="2432410"/>
            <a:ext cx="10110937" cy="6471000"/>
          </a:xfrm>
          <a:custGeom>
            <a:avLst/>
            <a:gdLst/>
            <a:ahLst/>
            <a:cxnLst/>
            <a:rect r="r" b="b" t="t" l="l"/>
            <a:pathLst>
              <a:path h="6471000" w="10110937">
                <a:moveTo>
                  <a:pt x="0" y="0"/>
                </a:moveTo>
                <a:lnTo>
                  <a:pt x="10110937" y="0"/>
                </a:lnTo>
                <a:lnTo>
                  <a:pt x="10110937" y="6470999"/>
                </a:lnTo>
                <a:lnTo>
                  <a:pt x="0" y="6470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95645" y="7313869"/>
            <a:ext cx="47422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9"/>
              </a:lnSpc>
              <a:spcBef>
                <a:spcPct val="0"/>
              </a:spcBef>
            </a:pPr>
            <a:r>
              <a:rPr lang="en-US" sz="2475">
                <a:solidFill>
                  <a:srgbClr val="81FFD6"/>
                </a:solidFill>
                <a:latin typeface="Montserrat"/>
                <a:ea typeface="Montserrat"/>
                <a:cs typeface="Montserrat"/>
                <a:sym typeface="Montserrat"/>
              </a:rPr>
              <a:t>Findings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645" y="7905083"/>
            <a:ext cx="4271480" cy="96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An alpha of 0.1 provided the smallest gap between the train and test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3422" y="2403835"/>
            <a:ext cx="5606710" cy="390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Is the model memorizing patients?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4128" y="3980620"/>
            <a:ext cx="47422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9"/>
              </a:lnSpc>
              <a:spcBef>
                <a:spcPct val="0"/>
              </a:spcBef>
            </a:pPr>
            <a:r>
              <a:rPr lang="en-US" sz="2475">
                <a:solidFill>
                  <a:srgbClr val="81FFD6"/>
                </a:solidFill>
                <a:latin typeface="Montserrat"/>
                <a:ea typeface="Montserrat"/>
                <a:cs typeface="Montserrat"/>
                <a:sym typeface="Montserrat"/>
              </a:rPr>
              <a:t>Experiment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44128" y="4571834"/>
            <a:ext cx="4271480" cy="96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Adjusted alpha parameter. Compared Tran vs test split on adjusting alpha</a:t>
            </a:r>
          </a:p>
        </p:txBody>
      </p:sp>
    </p:spTree>
  </p:cSld>
  <p:clrMapOvr>
    <a:masterClrMapping/>
  </p:clrMapOvr>
  <p:transition spd="fast">
    <p:wipe dir="r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4938" y="1342047"/>
            <a:ext cx="9837044" cy="90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5"/>
              </a:lnSpc>
              <a:spcBef>
                <a:spcPct val="0"/>
              </a:spcBef>
            </a:pPr>
            <a:r>
              <a:rPr lang="en-US" b="true" sz="6386">
                <a:solidFill>
                  <a:srgbClr val="75DAB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Loss Curve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608973">
            <a:off x="4387465" y="384216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314938" y="7022958"/>
            <a:ext cx="5606710" cy="2437899"/>
            <a:chOff x="0" y="0"/>
            <a:chExt cx="1616999" cy="7031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6999" cy="703101"/>
            </a:xfrm>
            <a:custGeom>
              <a:avLst/>
              <a:gdLst/>
              <a:ahLst/>
              <a:cxnLst/>
              <a:rect r="r" b="b" t="t" l="l"/>
              <a:pathLst>
                <a:path h="703101" w="1616999">
                  <a:moveTo>
                    <a:pt x="42806" y="0"/>
                  </a:moveTo>
                  <a:lnTo>
                    <a:pt x="1574193" y="0"/>
                  </a:lnTo>
                  <a:cubicBezTo>
                    <a:pt x="1585546" y="0"/>
                    <a:pt x="1596434" y="4510"/>
                    <a:pt x="1604462" y="12538"/>
                  </a:cubicBezTo>
                  <a:cubicBezTo>
                    <a:pt x="1612489" y="20565"/>
                    <a:pt x="1616999" y="31453"/>
                    <a:pt x="1616999" y="42806"/>
                  </a:cubicBezTo>
                  <a:lnTo>
                    <a:pt x="1616999" y="660295"/>
                  </a:lnTo>
                  <a:cubicBezTo>
                    <a:pt x="1616999" y="671648"/>
                    <a:pt x="1612489" y="682535"/>
                    <a:pt x="1604462" y="690563"/>
                  </a:cubicBezTo>
                  <a:cubicBezTo>
                    <a:pt x="1596434" y="698591"/>
                    <a:pt x="1585546" y="703101"/>
                    <a:pt x="1574193" y="703101"/>
                  </a:cubicBezTo>
                  <a:lnTo>
                    <a:pt x="42806" y="703101"/>
                  </a:lnTo>
                  <a:cubicBezTo>
                    <a:pt x="19165" y="703101"/>
                    <a:pt x="0" y="683936"/>
                    <a:pt x="0" y="660295"/>
                  </a:cubicBezTo>
                  <a:lnTo>
                    <a:pt x="0" y="42806"/>
                  </a:lnTo>
                  <a:cubicBezTo>
                    <a:pt x="0" y="31453"/>
                    <a:pt x="4510" y="20565"/>
                    <a:pt x="12538" y="12538"/>
                  </a:cubicBezTo>
                  <a:cubicBezTo>
                    <a:pt x="20565" y="4510"/>
                    <a:pt x="31453" y="0"/>
                    <a:pt x="428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16999" cy="7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63422" y="3689709"/>
            <a:ext cx="5606710" cy="2437899"/>
            <a:chOff x="0" y="0"/>
            <a:chExt cx="1616999" cy="7031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6999" cy="703101"/>
            </a:xfrm>
            <a:custGeom>
              <a:avLst/>
              <a:gdLst/>
              <a:ahLst/>
              <a:cxnLst/>
              <a:rect r="r" b="b" t="t" l="l"/>
              <a:pathLst>
                <a:path h="703101" w="1616999">
                  <a:moveTo>
                    <a:pt x="42806" y="0"/>
                  </a:moveTo>
                  <a:lnTo>
                    <a:pt x="1574193" y="0"/>
                  </a:lnTo>
                  <a:cubicBezTo>
                    <a:pt x="1585546" y="0"/>
                    <a:pt x="1596434" y="4510"/>
                    <a:pt x="1604462" y="12538"/>
                  </a:cubicBezTo>
                  <a:cubicBezTo>
                    <a:pt x="1612489" y="20565"/>
                    <a:pt x="1616999" y="31453"/>
                    <a:pt x="1616999" y="42806"/>
                  </a:cubicBezTo>
                  <a:lnTo>
                    <a:pt x="1616999" y="660295"/>
                  </a:lnTo>
                  <a:cubicBezTo>
                    <a:pt x="1616999" y="671648"/>
                    <a:pt x="1612489" y="682535"/>
                    <a:pt x="1604462" y="690563"/>
                  </a:cubicBezTo>
                  <a:cubicBezTo>
                    <a:pt x="1596434" y="698591"/>
                    <a:pt x="1585546" y="703101"/>
                    <a:pt x="1574193" y="703101"/>
                  </a:cubicBezTo>
                  <a:lnTo>
                    <a:pt x="42806" y="703101"/>
                  </a:lnTo>
                  <a:cubicBezTo>
                    <a:pt x="19165" y="703101"/>
                    <a:pt x="0" y="683936"/>
                    <a:pt x="0" y="660295"/>
                  </a:cubicBezTo>
                  <a:lnTo>
                    <a:pt x="0" y="42806"/>
                  </a:lnTo>
                  <a:cubicBezTo>
                    <a:pt x="0" y="31453"/>
                    <a:pt x="4510" y="20565"/>
                    <a:pt x="12538" y="12538"/>
                  </a:cubicBezTo>
                  <a:cubicBezTo>
                    <a:pt x="20565" y="4510"/>
                    <a:pt x="31453" y="0"/>
                    <a:pt x="428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16999" cy="7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5521" y="2432410"/>
            <a:ext cx="10110937" cy="6471000"/>
          </a:xfrm>
          <a:custGeom>
            <a:avLst/>
            <a:gdLst/>
            <a:ahLst/>
            <a:cxnLst/>
            <a:rect r="r" b="b" t="t" l="l"/>
            <a:pathLst>
              <a:path h="6471000" w="10110937">
                <a:moveTo>
                  <a:pt x="0" y="0"/>
                </a:moveTo>
                <a:lnTo>
                  <a:pt x="10110937" y="0"/>
                </a:lnTo>
                <a:lnTo>
                  <a:pt x="10110937" y="6470999"/>
                </a:lnTo>
                <a:lnTo>
                  <a:pt x="0" y="6470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65521" y="2432410"/>
            <a:ext cx="10110937" cy="6534193"/>
          </a:xfrm>
          <a:custGeom>
            <a:avLst/>
            <a:gdLst/>
            <a:ahLst/>
            <a:cxnLst/>
            <a:rect r="r" b="b" t="t" l="l"/>
            <a:pathLst>
              <a:path h="6534193" w="10110937">
                <a:moveTo>
                  <a:pt x="0" y="0"/>
                </a:moveTo>
                <a:lnTo>
                  <a:pt x="10110937" y="0"/>
                </a:lnTo>
                <a:lnTo>
                  <a:pt x="10110937" y="6534193"/>
                </a:lnTo>
                <a:lnTo>
                  <a:pt x="0" y="65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95645" y="7313869"/>
            <a:ext cx="47422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9"/>
              </a:lnSpc>
              <a:spcBef>
                <a:spcPct val="0"/>
              </a:spcBef>
            </a:pPr>
            <a:r>
              <a:rPr lang="en-US" sz="2475">
                <a:solidFill>
                  <a:srgbClr val="81FFD6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95645" y="7905083"/>
            <a:ext cx="4271480" cy="96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Smooth downward curve with stability. The model learned easily and successfully.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4128" y="3980620"/>
            <a:ext cx="47422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9"/>
              </a:lnSpc>
              <a:spcBef>
                <a:spcPct val="0"/>
              </a:spcBef>
            </a:pPr>
            <a:r>
              <a:rPr lang="en-US" sz="2475">
                <a:solidFill>
                  <a:srgbClr val="81FFD6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44128" y="4571834"/>
            <a:ext cx="4271480" cy="96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Performance of the final “Best Model” with optimized hyper parameter</a:t>
            </a:r>
          </a:p>
        </p:txBody>
      </p:sp>
    </p:spTree>
  </p:cSld>
  <p:clrMapOvr>
    <a:masterClrMapping/>
  </p:clrMapOvr>
  <p:transition spd="fast">
    <p:wipe dir="r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4938" y="1342047"/>
            <a:ext cx="7050260" cy="1795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5"/>
              </a:lnSpc>
              <a:spcBef>
                <a:spcPct val="0"/>
              </a:spcBef>
            </a:pPr>
            <a:r>
              <a:rPr lang="en-US" b="true" sz="6386">
                <a:solidFill>
                  <a:srgbClr val="75DAB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Confusion Matrix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608973">
            <a:off x="4387465" y="384216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314938" y="7022958"/>
            <a:ext cx="5606710" cy="2437899"/>
            <a:chOff x="0" y="0"/>
            <a:chExt cx="1616999" cy="7031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6999" cy="703101"/>
            </a:xfrm>
            <a:custGeom>
              <a:avLst/>
              <a:gdLst/>
              <a:ahLst/>
              <a:cxnLst/>
              <a:rect r="r" b="b" t="t" l="l"/>
              <a:pathLst>
                <a:path h="703101" w="1616999">
                  <a:moveTo>
                    <a:pt x="42806" y="0"/>
                  </a:moveTo>
                  <a:lnTo>
                    <a:pt x="1574193" y="0"/>
                  </a:lnTo>
                  <a:cubicBezTo>
                    <a:pt x="1585546" y="0"/>
                    <a:pt x="1596434" y="4510"/>
                    <a:pt x="1604462" y="12538"/>
                  </a:cubicBezTo>
                  <a:cubicBezTo>
                    <a:pt x="1612489" y="20565"/>
                    <a:pt x="1616999" y="31453"/>
                    <a:pt x="1616999" y="42806"/>
                  </a:cubicBezTo>
                  <a:lnTo>
                    <a:pt x="1616999" y="660295"/>
                  </a:lnTo>
                  <a:cubicBezTo>
                    <a:pt x="1616999" y="671648"/>
                    <a:pt x="1612489" y="682535"/>
                    <a:pt x="1604462" y="690563"/>
                  </a:cubicBezTo>
                  <a:cubicBezTo>
                    <a:pt x="1596434" y="698591"/>
                    <a:pt x="1585546" y="703101"/>
                    <a:pt x="1574193" y="703101"/>
                  </a:cubicBezTo>
                  <a:lnTo>
                    <a:pt x="42806" y="703101"/>
                  </a:lnTo>
                  <a:cubicBezTo>
                    <a:pt x="19165" y="703101"/>
                    <a:pt x="0" y="683936"/>
                    <a:pt x="0" y="660295"/>
                  </a:cubicBezTo>
                  <a:lnTo>
                    <a:pt x="0" y="42806"/>
                  </a:lnTo>
                  <a:cubicBezTo>
                    <a:pt x="0" y="31453"/>
                    <a:pt x="4510" y="20565"/>
                    <a:pt x="12538" y="12538"/>
                  </a:cubicBezTo>
                  <a:cubicBezTo>
                    <a:pt x="20565" y="4510"/>
                    <a:pt x="31453" y="0"/>
                    <a:pt x="428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16999" cy="7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63422" y="3689709"/>
            <a:ext cx="5606710" cy="2437899"/>
            <a:chOff x="0" y="0"/>
            <a:chExt cx="1616999" cy="7031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6999" cy="703101"/>
            </a:xfrm>
            <a:custGeom>
              <a:avLst/>
              <a:gdLst/>
              <a:ahLst/>
              <a:cxnLst/>
              <a:rect r="r" b="b" t="t" l="l"/>
              <a:pathLst>
                <a:path h="703101" w="1616999">
                  <a:moveTo>
                    <a:pt x="42806" y="0"/>
                  </a:moveTo>
                  <a:lnTo>
                    <a:pt x="1574193" y="0"/>
                  </a:lnTo>
                  <a:cubicBezTo>
                    <a:pt x="1585546" y="0"/>
                    <a:pt x="1596434" y="4510"/>
                    <a:pt x="1604462" y="12538"/>
                  </a:cubicBezTo>
                  <a:cubicBezTo>
                    <a:pt x="1612489" y="20565"/>
                    <a:pt x="1616999" y="31453"/>
                    <a:pt x="1616999" y="42806"/>
                  </a:cubicBezTo>
                  <a:lnTo>
                    <a:pt x="1616999" y="660295"/>
                  </a:lnTo>
                  <a:cubicBezTo>
                    <a:pt x="1616999" y="671648"/>
                    <a:pt x="1612489" y="682535"/>
                    <a:pt x="1604462" y="690563"/>
                  </a:cubicBezTo>
                  <a:cubicBezTo>
                    <a:pt x="1596434" y="698591"/>
                    <a:pt x="1585546" y="703101"/>
                    <a:pt x="1574193" y="703101"/>
                  </a:cubicBezTo>
                  <a:lnTo>
                    <a:pt x="42806" y="703101"/>
                  </a:lnTo>
                  <a:cubicBezTo>
                    <a:pt x="19165" y="703101"/>
                    <a:pt x="0" y="683936"/>
                    <a:pt x="0" y="660295"/>
                  </a:cubicBezTo>
                  <a:lnTo>
                    <a:pt x="0" y="42806"/>
                  </a:lnTo>
                  <a:cubicBezTo>
                    <a:pt x="0" y="31453"/>
                    <a:pt x="4510" y="20565"/>
                    <a:pt x="12538" y="12538"/>
                  </a:cubicBezTo>
                  <a:cubicBezTo>
                    <a:pt x="20565" y="4510"/>
                    <a:pt x="31453" y="0"/>
                    <a:pt x="428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16999" cy="7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492573" y="383830"/>
            <a:ext cx="10417882" cy="9519339"/>
          </a:xfrm>
          <a:custGeom>
            <a:avLst/>
            <a:gdLst/>
            <a:ahLst/>
            <a:cxnLst/>
            <a:rect r="r" b="b" t="t" l="l"/>
            <a:pathLst>
              <a:path h="9519339" w="10417882">
                <a:moveTo>
                  <a:pt x="0" y="0"/>
                </a:moveTo>
                <a:lnTo>
                  <a:pt x="10417881" y="0"/>
                </a:lnTo>
                <a:lnTo>
                  <a:pt x="10417881" y="9519340"/>
                </a:lnTo>
                <a:lnTo>
                  <a:pt x="0" y="9519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95645" y="7313869"/>
            <a:ext cx="47422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9"/>
              </a:lnSpc>
              <a:spcBef>
                <a:spcPct val="0"/>
              </a:spcBef>
            </a:pPr>
            <a:r>
              <a:rPr lang="en-US" sz="2475">
                <a:solidFill>
                  <a:srgbClr val="81FFD6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5645" y="7905083"/>
            <a:ext cx="4271480" cy="96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Smooth downward curve with stability. The model learned easily and successfully.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44128" y="3980620"/>
            <a:ext cx="47422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9"/>
              </a:lnSpc>
              <a:spcBef>
                <a:spcPct val="0"/>
              </a:spcBef>
            </a:pPr>
            <a:r>
              <a:rPr lang="en-US" sz="2475">
                <a:solidFill>
                  <a:srgbClr val="81FFD6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44128" y="4571834"/>
            <a:ext cx="4271480" cy="31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Where the model makes mistakes</a:t>
            </a:r>
          </a:p>
        </p:txBody>
      </p:sp>
    </p:spTree>
  </p:cSld>
  <p:clrMapOvr>
    <a:masterClrMapping/>
  </p:clrMapOvr>
  <p:transition spd="fast">
    <p:wipe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4938" y="1342047"/>
            <a:ext cx="9837044" cy="90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5"/>
              </a:lnSpc>
              <a:spcBef>
                <a:spcPct val="0"/>
              </a:spcBef>
            </a:pPr>
            <a:r>
              <a:rPr lang="en-US" b="true" sz="6386">
                <a:solidFill>
                  <a:srgbClr val="75DAB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Analysis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608973">
            <a:off x="4387465" y="384216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314938" y="7022958"/>
            <a:ext cx="5606710" cy="2437899"/>
            <a:chOff x="0" y="0"/>
            <a:chExt cx="1616999" cy="7031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616999" cy="703101"/>
            </a:xfrm>
            <a:custGeom>
              <a:avLst/>
              <a:gdLst/>
              <a:ahLst/>
              <a:cxnLst/>
              <a:rect r="r" b="b" t="t" l="l"/>
              <a:pathLst>
                <a:path h="703101" w="1616999">
                  <a:moveTo>
                    <a:pt x="42806" y="0"/>
                  </a:moveTo>
                  <a:lnTo>
                    <a:pt x="1574193" y="0"/>
                  </a:lnTo>
                  <a:cubicBezTo>
                    <a:pt x="1585546" y="0"/>
                    <a:pt x="1596434" y="4510"/>
                    <a:pt x="1604462" y="12538"/>
                  </a:cubicBezTo>
                  <a:cubicBezTo>
                    <a:pt x="1612489" y="20565"/>
                    <a:pt x="1616999" y="31453"/>
                    <a:pt x="1616999" y="42806"/>
                  </a:cubicBezTo>
                  <a:lnTo>
                    <a:pt x="1616999" y="660295"/>
                  </a:lnTo>
                  <a:cubicBezTo>
                    <a:pt x="1616999" y="671648"/>
                    <a:pt x="1612489" y="682535"/>
                    <a:pt x="1604462" y="690563"/>
                  </a:cubicBezTo>
                  <a:cubicBezTo>
                    <a:pt x="1596434" y="698591"/>
                    <a:pt x="1585546" y="703101"/>
                    <a:pt x="1574193" y="703101"/>
                  </a:cubicBezTo>
                  <a:lnTo>
                    <a:pt x="42806" y="703101"/>
                  </a:lnTo>
                  <a:cubicBezTo>
                    <a:pt x="19165" y="703101"/>
                    <a:pt x="0" y="683936"/>
                    <a:pt x="0" y="660295"/>
                  </a:cubicBezTo>
                  <a:lnTo>
                    <a:pt x="0" y="42806"/>
                  </a:lnTo>
                  <a:cubicBezTo>
                    <a:pt x="0" y="31453"/>
                    <a:pt x="4510" y="20565"/>
                    <a:pt x="12538" y="12538"/>
                  </a:cubicBezTo>
                  <a:cubicBezTo>
                    <a:pt x="20565" y="4510"/>
                    <a:pt x="31453" y="0"/>
                    <a:pt x="428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616999" cy="7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63422" y="3689709"/>
            <a:ext cx="5606710" cy="2437899"/>
            <a:chOff x="0" y="0"/>
            <a:chExt cx="1616999" cy="7031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16999" cy="703101"/>
            </a:xfrm>
            <a:custGeom>
              <a:avLst/>
              <a:gdLst/>
              <a:ahLst/>
              <a:cxnLst/>
              <a:rect r="r" b="b" t="t" l="l"/>
              <a:pathLst>
                <a:path h="703101" w="1616999">
                  <a:moveTo>
                    <a:pt x="42806" y="0"/>
                  </a:moveTo>
                  <a:lnTo>
                    <a:pt x="1574193" y="0"/>
                  </a:lnTo>
                  <a:cubicBezTo>
                    <a:pt x="1585546" y="0"/>
                    <a:pt x="1596434" y="4510"/>
                    <a:pt x="1604462" y="12538"/>
                  </a:cubicBezTo>
                  <a:cubicBezTo>
                    <a:pt x="1612489" y="20565"/>
                    <a:pt x="1616999" y="31453"/>
                    <a:pt x="1616999" y="42806"/>
                  </a:cubicBezTo>
                  <a:lnTo>
                    <a:pt x="1616999" y="660295"/>
                  </a:lnTo>
                  <a:cubicBezTo>
                    <a:pt x="1616999" y="671648"/>
                    <a:pt x="1612489" y="682535"/>
                    <a:pt x="1604462" y="690563"/>
                  </a:cubicBezTo>
                  <a:cubicBezTo>
                    <a:pt x="1596434" y="698591"/>
                    <a:pt x="1585546" y="703101"/>
                    <a:pt x="1574193" y="703101"/>
                  </a:cubicBezTo>
                  <a:lnTo>
                    <a:pt x="42806" y="703101"/>
                  </a:lnTo>
                  <a:cubicBezTo>
                    <a:pt x="19165" y="703101"/>
                    <a:pt x="0" y="683936"/>
                    <a:pt x="0" y="660295"/>
                  </a:cubicBezTo>
                  <a:lnTo>
                    <a:pt x="0" y="42806"/>
                  </a:lnTo>
                  <a:cubicBezTo>
                    <a:pt x="0" y="31453"/>
                    <a:pt x="4510" y="20565"/>
                    <a:pt x="12538" y="12538"/>
                  </a:cubicBezTo>
                  <a:cubicBezTo>
                    <a:pt x="20565" y="4510"/>
                    <a:pt x="31453" y="0"/>
                    <a:pt x="4280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616999" cy="731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365521" y="2432410"/>
            <a:ext cx="10110937" cy="6471000"/>
          </a:xfrm>
          <a:custGeom>
            <a:avLst/>
            <a:gdLst/>
            <a:ahLst/>
            <a:cxnLst/>
            <a:rect r="r" b="b" t="t" l="l"/>
            <a:pathLst>
              <a:path h="6471000" w="10110937">
                <a:moveTo>
                  <a:pt x="0" y="0"/>
                </a:moveTo>
                <a:lnTo>
                  <a:pt x="10110937" y="0"/>
                </a:lnTo>
                <a:lnTo>
                  <a:pt x="10110937" y="6470999"/>
                </a:lnTo>
                <a:lnTo>
                  <a:pt x="0" y="64709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65521" y="2432410"/>
            <a:ext cx="10110937" cy="6534193"/>
          </a:xfrm>
          <a:custGeom>
            <a:avLst/>
            <a:gdLst/>
            <a:ahLst/>
            <a:cxnLst/>
            <a:rect r="r" b="b" t="t" l="l"/>
            <a:pathLst>
              <a:path h="6534193" w="10110937">
                <a:moveTo>
                  <a:pt x="0" y="0"/>
                </a:moveTo>
                <a:lnTo>
                  <a:pt x="10110937" y="0"/>
                </a:lnTo>
                <a:lnTo>
                  <a:pt x="10110937" y="6534193"/>
                </a:lnTo>
                <a:lnTo>
                  <a:pt x="0" y="65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365521" y="2432410"/>
            <a:ext cx="8193345" cy="6534193"/>
          </a:xfrm>
          <a:custGeom>
            <a:avLst/>
            <a:gdLst/>
            <a:ahLst/>
            <a:cxnLst/>
            <a:rect r="r" b="b" t="t" l="l"/>
            <a:pathLst>
              <a:path h="6534193" w="8193345">
                <a:moveTo>
                  <a:pt x="0" y="0"/>
                </a:moveTo>
                <a:lnTo>
                  <a:pt x="8193346" y="0"/>
                </a:lnTo>
                <a:lnTo>
                  <a:pt x="8193346" y="6534193"/>
                </a:lnTo>
                <a:lnTo>
                  <a:pt x="0" y="6534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95645" y="7313869"/>
            <a:ext cx="47422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9"/>
              </a:lnSpc>
              <a:spcBef>
                <a:spcPct val="0"/>
              </a:spcBef>
            </a:pPr>
            <a:r>
              <a:rPr lang="en-US" sz="2475">
                <a:solidFill>
                  <a:srgbClr val="81FFD6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95645" y="7905083"/>
            <a:ext cx="4271480" cy="96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Correctly predicted that physical mass + genetics is the key metric for diagnoising obesity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44128" y="3980620"/>
            <a:ext cx="4742264" cy="41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9"/>
              </a:lnSpc>
              <a:spcBef>
                <a:spcPct val="0"/>
              </a:spcBef>
            </a:pPr>
            <a:r>
              <a:rPr lang="en-US" sz="2475">
                <a:solidFill>
                  <a:srgbClr val="81FFD6"/>
                </a:solidFill>
                <a:latin typeface="Montserrat"/>
                <a:ea typeface="Montserrat"/>
                <a:cs typeface="Montserrat"/>
                <a:sym typeface="Montserrat"/>
              </a:rPr>
              <a:t>Method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44128" y="4571834"/>
            <a:ext cx="4271480" cy="128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04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Shuffles data and sees how much accuracy drops. If it crashes, that feature was important.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3422" y="2403835"/>
            <a:ext cx="5606710" cy="771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true" sz="237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What features have the biggest impact on predictions?</a:t>
            </a:r>
          </a:p>
        </p:txBody>
      </p:sp>
    </p:spTree>
  </p:cSld>
  <p:clrMapOvr>
    <a:masterClrMapping/>
  </p:clrMapOvr>
  <p:transition spd="fast">
    <p:wipe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16564">
            <a:off x="-4217767" y="1866193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413536" y="1297946"/>
            <a:ext cx="6185904" cy="910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73"/>
              </a:lnSpc>
              <a:spcBef>
                <a:spcPct val="0"/>
              </a:spcBef>
            </a:pPr>
            <a:r>
              <a:rPr lang="en-US" b="true" sz="6430">
                <a:solidFill>
                  <a:srgbClr val="81FFD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804992" y="905345"/>
            <a:ext cx="9632938" cy="2101538"/>
            <a:chOff x="0" y="0"/>
            <a:chExt cx="2778181" cy="6060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78181" cy="606093"/>
            </a:xfrm>
            <a:custGeom>
              <a:avLst/>
              <a:gdLst/>
              <a:ahLst/>
              <a:cxnLst/>
              <a:rect r="r" b="b" t="t" l="l"/>
              <a:pathLst>
                <a:path h="606093" w="2778181">
                  <a:moveTo>
                    <a:pt x="31344" y="0"/>
                  </a:moveTo>
                  <a:lnTo>
                    <a:pt x="2746837" y="0"/>
                  </a:lnTo>
                  <a:cubicBezTo>
                    <a:pt x="2764147" y="0"/>
                    <a:pt x="2778181" y="14033"/>
                    <a:pt x="2778181" y="31344"/>
                  </a:cubicBezTo>
                  <a:lnTo>
                    <a:pt x="2778181" y="574749"/>
                  </a:lnTo>
                  <a:cubicBezTo>
                    <a:pt x="2778181" y="583062"/>
                    <a:pt x="2774878" y="591034"/>
                    <a:pt x="2769000" y="596912"/>
                  </a:cubicBezTo>
                  <a:cubicBezTo>
                    <a:pt x="2763122" y="602790"/>
                    <a:pt x="2755150" y="606093"/>
                    <a:pt x="2746837" y="606093"/>
                  </a:cubicBezTo>
                  <a:lnTo>
                    <a:pt x="31344" y="606093"/>
                  </a:lnTo>
                  <a:cubicBezTo>
                    <a:pt x="14033" y="606093"/>
                    <a:pt x="0" y="592059"/>
                    <a:pt x="0" y="574749"/>
                  </a:cubicBezTo>
                  <a:lnTo>
                    <a:pt x="0" y="31344"/>
                  </a:lnTo>
                  <a:cubicBezTo>
                    <a:pt x="0" y="14033"/>
                    <a:pt x="14033" y="0"/>
                    <a:pt x="313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EAB8">
                    <a:alpha val="100000"/>
                  </a:srgbClr>
                </a:gs>
                <a:gs pos="100000">
                  <a:srgbClr val="73A0F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778181" cy="634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8099107" y="1546578"/>
            <a:ext cx="3255404" cy="77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13" spc="11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Obesity Is Non-Linear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797029" y="1356897"/>
            <a:ext cx="5093066" cy="117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735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Identity performed poorly and RelU performed well. Therefore, the relationship between eating habits obesity characterization is complex and curved.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804992" y="3208053"/>
            <a:ext cx="9632938" cy="2101538"/>
            <a:chOff x="0" y="0"/>
            <a:chExt cx="2778181" cy="6060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78181" cy="606093"/>
            </a:xfrm>
            <a:custGeom>
              <a:avLst/>
              <a:gdLst/>
              <a:ahLst/>
              <a:cxnLst/>
              <a:rect r="r" b="b" t="t" l="l"/>
              <a:pathLst>
                <a:path h="606093" w="2778181">
                  <a:moveTo>
                    <a:pt x="31344" y="0"/>
                  </a:moveTo>
                  <a:lnTo>
                    <a:pt x="2746837" y="0"/>
                  </a:lnTo>
                  <a:cubicBezTo>
                    <a:pt x="2764147" y="0"/>
                    <a:pt x="2778181" y="14033"/>
                    <a:pt x="2778181" y="31344"/>
                  </a:cubicBezTo>
                  <a:lnTo>
                    <a:pt x="2778181" y="574749"/>
                  </a:lnTo>
                  <a:cubicBezTo>
                    <a:pt x="2778181" y="583062"/>
                    <a:pt x="2774878" y="591034"/>
                    <a:pt x="2769000" y="596912"/>
                  </a:cubicBezTo>
                  <a:cubicBezTo>
                    <a:pt x="2763122" y="602790"/>
                    <a:pt x="2755150" y="606093"/>
                    <a:pt x="2746837" y="606093"/>
                  </a:cubicBezTo>
                  <a:lnTo>
                    <a:pt x="31344" y="606093"/>
                  </a:lnTo>
                  <a:cubicBezTo>
                    <a:pt x="14033" y="606093"/>
                    <a:pt x="0" y="592059"/>
                    <a:pt x="0" y="574749"/>
                  </a:cubicBezTo>
                  <a:lnTo>
                    <a:pt x="0" y="31344"/>
                  </a:lnTo>
                  <a:cubicBezTo>
                    <a:pt x="0" y="14033"/>
                    <a:pt x="14033" y="0"/>
                    <a:pt x="31344" y="0"/>
                  </a:cubicBezTo>
                  <a:close/>
                </a:path>
              </a:pathLst>
            </a:custGeom>
            <a:solidFill>
              <a:srgbClr val="50517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778181" cy="634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099107" y="3849286"/>
            <a:ext cx="3255404" cy="77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13" spc="11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Regularization was Required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97029" y="3807224"/>
            <a:ext cx="5093066" cy="1170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735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The model was initally memorizing specific patients rather than general health data. The alpha parameter adjusted resulted in a smaller gap between training and test.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804992" y="5510761"/>
            <a:ext cx="9632938" cy="2101538"/>
            <a:chOff x="0" y="0"/>
            <a:chExt cx="2778181" cy="6060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78181" cy="606093"/>
            </a:xfrm>
            <a:custGeom>
              <a:avLst/>
              <a:gdLst/>
              <a:ahLst/>
              <a:cxnLst/>
              <a:rect r="r" b="b" t="t" l="l"/>
              <a:pathLst>
                <a:path h="606093" w="2778181">
                  <a:moveTo>
                    <a:pt x="31344" y="0"/>
                  </a:moveTo>
                  <a:lnTo>
                    <a:pt x="2746837" y="0"/>
                  </a:lnTo>
                  <a:cubicBezTo>
                    <a:pt x="2764147" y="0"/>
                    <a:pt x="2778181" y="14033"/>
                    <a:pt x="2778181" y="31344"/>
                  </a:cubicBezTo>
                  <a:lnTo>
                    <a:pt x="2778181" y="574749"/>
                  </a:lnTo>
                  <a:cubicBezTo>
                    <a:pt x="2778181" y="583062"/>
                    <a:pt x="2774878" y="591034"/>
                    <a:pt x="2769000" y="596912"/>
                  </a:cubicBezTo>
                  <a:cubicBezTo>
                    <a:pt x="2763122" y="602790"/>
                    <a:pt x="2755150" y="606093"/>
                    <a:pt x="2746837" y="606093"/>
                  </a:cubicBezTo>
                  <a:lnTo>
                    <a:pt x="31344" y="606093"/>
                  </a:lnTo>
                  <a:cubicBezTo>
                    <a:pt x="14033" y="606093"/>
                    <a:pt x="0" y="592059"/>
                    <a:pt x="0" y="574749"/>
                  </a:cubicBezTo>
                  <a:lnTo>
                    <a:pt x="0" y="31344"/>
                  </a:lnTo>
                  <a:cubicBezTo>
                    <a:pt x="0" y="14033"/>
                    <a:pt x="14033" y="0"/>
                    <a:pt x="3134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AAEAB8">
                    <a:alpha val="100000"/>
                  </a:srgbClr>
                </a:gs>
                <a:gs pos="100000">
                  <a:srgbClr val="73A0F5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778181" cy="634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8099107" y="6347707"/>
            <a:ext cx="3255404" cy="380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13" spc="11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Confusion Matrix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797029" y="6109932"/>
            <a:ext cx="5332431" cy="87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735" b="tru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Based on the confusion matrix, this model can make medically reasonably classifications with little error.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804992" y="7813469"/>
            <a:ext cx="9632938" cy="2101538"/>
            <a:chOff x="0" y="0"/>
            <a:chExt cx="2778181" cy="6060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778181" cy="606093"/>
            </a:xfrm>
            <a:custGeom>
              <a:avLst/>
              <a:gdLst/>
              <a:ahLst/>
              <a:cxnLst/>
              <a:rect r="r" b="b" t="t" l="l"/>
              <a:pathLst>
                <a:path h="606093" w="2778181">
                  <a:moveTo>
                    <a:pt x="31344" y="0"/>
                  </a:moveTo>
                  <a:lnTo>
                    <a:pt x="2746837" y="0"/>
                  </a:lnTo>
                  <a:cubicBezTo>
                    <a:pt x="2764147" y="0"/>
                    <a:pt x="2778181" y="14033"/>
                    <a:pt x="2778181" y="31344"/>
                  </a:cubicBezTo>
                  <a:lnTo>
                    <a:pt x="2778181" y="574749"/>
                  </a:lnTo>
                  <a:cubicBezTo>
                    <a:pt x="2778181" y="583062"/>
                    <a:pt x="2774878" y="591034"/>
                    <a:pt x="2769000" y="596912"/>
                  </a:cubicBezTo>
                  <a:cubicBezTo>
                    <a:pt x="2763122" y="602790"/>
                    <a:pt x="2755150" y="606093"/>
                    <a:pt x="2746837" y="606093"/>
                  </a:cubicBezTo>
                  <a:lnTo>
                    <a:pt x="31344" y="606093"/>
                  </a:lnTo>
                  <a:cubicBezTo>
                    <a:pt x="14033" y="606093"/>
                    <a:pt x="0" y="592059"/>
                    <a:pt x="0" y="574749"/>
                  </a:cubicBezTo>
                  <a:lnTo>
                    <a:pt x="0" y="31344"/>
                  </a:lnTo>
                  <a:cubicBezTo>
                    <a:pt x="0" y="14033"/>
                    <a:pt x="14033" y="0"/>
                    <a:pt x="31344" y="0"/>
                  </a:cubicBezTo>
                  <a:close/>
                </a:path>
              </a:pathLst>
            </a:custGeom>
            <a:solidFill>
              <a:srgbClr val="505172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778181" cy="6346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0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8099107" y="8454702"/>
            <a:ext cx="3255404" cy="771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b="true" sz="2213" spc="119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Efficient Architecture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97029" y="8412640"/>
            <a:ext cx="5093066" cy="874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4"/>
              </a:lnSpc>
            </a:pPr>
            <a:r>
              <a:rPr lang="en-US" sz="1735" b="true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We proved that a larger architecture was not necessary and found a balance between learning rate and capacity.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3536" y="2600656"/>
            <a:ext cx="4271480" cy="204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54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successfully developed a machine learning model to categorize patient obesity levels.</a:t>
            </a:r>
          </a:p>
        </p:txBody>
      </p:sp>
    </p:spTree>
  </p:cSld>
  <p:clrMapOvr>
    <a:masterClrMapping/>
  </p:clrMapOvr>
  <p:transition spd="fast">
    <p:wipe dir="u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8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17181"/>
            <a:ext cx="12281492" cy="909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5"/>
              </a:lnSpc>
              <a:spcBef>
                <a:spcPct val="0"/>
              </a:spcBef>
            </a:pPr>
            <a:r>
              <a:rPr lang="en-US" b="true" sz="6386">
                <a:solidFill>
                  <a:srgbClr val="81FFD6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Thank you!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608973">
            <a:off x="4387465" y="384216"/>
            <a:ext cx="26177985" cy="8638735"/>
          </a:xfrm>
          <a:custGeom>
            <a:avLst/>
            <a:gdLst/>
            <a:ahLst/>
            <a:cxnLst/>
            <a:rect r="r" b="b" t="t" l="l"/>
            <a:pathLst>
              <a:path h="8638735" w="26177985">
                <a:moveTo>
                  <a:pt x="0" y="0"/>
                </a:moveTo>
                <a:lnTo>
                  <a:pt x="26177986" y="0"/>
                </a:lnTo>
                <a:lnTo>
                  <a:pt x="26177986" y="8638735"/>
                </a:lnTo>
                <a:lnTo>
                  <a:pt x="0" y="86387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5607919"/>
            <a:ext cx="4742264" cy="50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3246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Questions?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674349" y="9129141"/>
            <a:ext cx="2760315" cy="738727"/>
            <a:chOff x="0" y="0"/>
            <a:chExt cx="3680420" cy="9849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80420" cy="984970"/>
            </a:xfrm>
            <a:custGeom>
              <a:avLst/>
              <a:gdLst/>
              <a:ahLst/>
              <a:cxnLst/>
              <a:rect r="r" b="b" t="t" l="l"/>
              <a:pathLst>
                <a:path h="984970" w="3680420">
                  <a:moveTo>
                    <a:pt x="0" y="0"/>
                  </a:moveTo>
                  <a:lnTo>
                    <a:pt x="3680420" y="0"/>
                  </a:lnTo>
                  <a:lnTo>
                    <a:pt x="3680420" y="984970"/>
                  </a:lnTo>
                  <a:lnTo>
                    <a:pt x="0" y="98497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680420" cy="99449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74349" y="9596909"/>
            <a:ext cx="3088928" cy="1729382"/>
            <a:chOff x="0" y="0"/>
            <a:chExt cx="4118570" cy="23058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18570" cy="2305843"/>
            </a:xfrm>
            <a:custGeom>
              <a:avLst/>
              <a:gdLst/>
              <a:ahLst/>
              <a:cxnLst/>
              <a:rect r="r" b="b" t="t" l="l"/>
              <a:pathLst>
                <a:path h="2305843" w="4118570">
                  <a:moveTo>
                    <a:pt x="0" y="0"/>
                  </a:moveTo>
                  <a:lnTo>
                    <a:pt x="4118570" y="0"/>
                  </a:lnTo>
                  <a:lnTo>
                    <a:pt x="4118570" y="2305843"/>
                  </a:lnTo>
                  <a:lnTo>
                    <a:pt x="0" y="23058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118570" cy="236299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2687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28700" y="8753763"/>
            <a:ext cx="6487395" cy="504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23"/>
              </a:lnSpc>
            </a:pPr>
            <a:r>
              <a:rPr lang="en-US" sz="3246" u="sng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  <a:hlinkClick r:id="rId4" tooltip="https://colab.research.google.com/drive/1tYbBxKAiuK5_r0XEsuIrhGTGbnx_PedC?usp=sharing"/>
              </a:rPr>
              <a:t>Click here for a link to our Colab</a:t>
            </a:r>
          </a:p>
        </p:txBody>
      </p:sp>
    </p:spTree>
  </p:cSld>
  <p:clrMapOvr>
    <a:masterClrMapping/>
  </p:clrMapOvr>
  <p:transition spd="fast">
    <p:wipe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DAG467mwBJ4</dc:identifier>
  <dcterms:modified xsi:type="dcterms:W3CDTF">2011-08-01T06:04:30Z</dcterms:modified>
  <cp:revision>1</cp:revision>
  <dc:title>COP 4065 - 80589</dc:title>
</cp:coreProperties>
</file>